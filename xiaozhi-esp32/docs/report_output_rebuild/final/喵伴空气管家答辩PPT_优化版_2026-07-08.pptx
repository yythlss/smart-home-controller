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2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hero_16_9_585_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2920"/>
            <a:ext cx="5349240" cy="58338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502920"/>
            <a:ext cx="5349240" cy="5833872"/>
          </a:xfrm>
          <a:prstGeom prst="rect">
            <a:avLst/>
          </a:prstGeom>
          <a:noFill/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5F6F3"/>
                </a:solidFill>
                <a:latin typeface="Microsoft YaHei UI"/>
              </a:defRPr>
            </a:pPr>
            <a:r>
              <a:t>喵伴空气管家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6F3"/>
                </a:solidFill>
                <a:latin typeface="Microsoft YaHei"/>
              </a:defRPr>
            </a:pPr>
            <a:r>
              <a:t>室内环境智能调节系统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80360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5F6F3"/>
                </a:solidFill>
                <a:latin typeface="Microsoft YaHei UI"/>
              </a:defRPr>
            </a:pPr>
            <a:r>
              <a:t>把温湿度、空气质量、屏幕控制、手机控制和语音控制接到同一套状态里。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074920"/>
            <a:ext cx="914400" cy="402336"/>
          </a:xfrm>
          <a:prstGeom prst="roundRect">
            <a:avLst/>
          </a:prstGeom>
          <a:solidFill>
            <a:srgbClr val="174238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5721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串口屏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5074920"/>
            <a:ext cx="914400" cy="402336"/>
          </a:xfrm>
          <a:prstGeom prst="roundRect">
            <a:avLst/>
          </a:prstGeom>
          <a:solidFill>
            <a:srgbClr val="174238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2807" y="515721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小程序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5074920"/>
            <a:ext cx="1024128" cy="402336"/>
          </a:xfrm>
          <a:prstGeom prst="roundRect">
            <a:avLst/>
          </a:prstGeom>
          <a:solidFill>
            <a:srgbClr val="174238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5157216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AI 语音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074920"/>
            <a:ext cx="1078992" cy="402336"/>
          </a:xfrm>
          <a:prstGeom prst="roundRect">
            <a:avLst/>
          </a:prstGeom>
          <a:solidFill>
            <a:srgbClr val="174238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5157216"/>
            <a:ext cx="859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自动联动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先解决一个很具体的问题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室内环境不是只要“能测到”，还要让人看得懂、控得住，异常时能自动处理。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10515600" cy="9601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7647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822B"/>
                </a:solidFill>
                <a:latin typeface="Microsoft YaHei UI"/>
              </a:defRPr>
            </a:pPr>
            <a: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664207"/>
            <a:ext cx="0" cy="649225"/>
          </a:xfrm>
          <a:prstGeom prst="line">
            <a:avLst/>
          </a:prstGeom>
          <a:ln w="3048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93392" y="1673351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看不直观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70992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闷、干、热、空气差，很多时候是凭感觉发现。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834639"/>
            <a:ext cx="10515600" cy="9601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906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822B"/>
                </a:solidFill>
                <a:latin typeface="Microsoft YaHei UI"/>
              </a:defRPr>
            </a:pPr>
            <a: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990087"/>
            <a:ext cx="0" cy="649224"/>
          </a:xfrm>
          <a:prstGeom prst="line">
            <a:avLst/>
          </a:prstGeom>
          <a:ln w="3048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93392" y="29992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入口分散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3580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屏幕、手机、语音如果不同步，控制结果容易混乱。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10515600" cy="9601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165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822B"/>
                </a:solidFill>
                <a:latin typeface="Microsoft YaHei UI"/>
              </a:defRPr>
            </a:pPr>
            <a: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4315968"/>
            <a:ext cx="0" cy="649224"/>
          </a:xfrm>
          <a:prstGeom prst="line">
            <a:avLst/>
          </a:prstGeom>
          <a:ln w="3048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93392" y="43251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手动容易忘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6168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需要自动模式处理明显异常，也需要节能模式一键收口。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822B"/>
                </a:solidFill>
                <a:latin typeface="Microsoft YaHei UI"/>
              </a:defRPr>
            </a:pPr>
            <a:r>
              <a:t>我们的思路：不是做一个单独的读数页面，而是把“检测 - 判断 - 显示 - 控制”连成一条线。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系统主线：所有入口共用一份状态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传感器进 ESP32S3，屏幕、小程序和语音都读写同一套设备状态。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2011680" cy="3273552"/>
          </a:xfrm>
          <a:prstGeom prst="roundRect">
            <a:avLst/>
          </a:prstGeom>
          <a:solidFill>
            <a:srgbClr val="F5F6F3"/>
          </a:solidFill>
          <a:ln w="1905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8745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感知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7" y="2304288"/>
            <a:ext cx="1371601" cy="0"/>
          </a:xfrm>
          <a:prstGeom prst="line">
            <a:avLst/>
          </a:prstGeom>
          <a:ln w="2794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6968" y="2633472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DHT11</a:t>
            </a:r>
            <a:br/>
            <a:r>
              <a:t>MQ135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1572768"/>
            <a:ext cx="2011680" cy="3273552"/>
          </a:xfrm>
          <a:prstGeom prst="roundRect">
            <a:avLst/>
          </a:prstGeom>
          <a:solidFill>
            <a:srgbClr val="F5F6F3"/>
          </a:solidFill>
          <a:ln w="1905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8745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ESP32S3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9272" y="2304288"/>
            <a:ext cx="1371600" cy="0"/>
          </a:xfrm>
          <a:prstGeom prst="line">
            <a:avLst/>
          </a:prstGeom>
          <a:ln w="2794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27832" y="2633472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采样</a:t>
            </a:r>
            <a:br/>
            <a:r>
              <a:t>评分</a:t>
            </a:r>
            <a:br/>
            <a:r>
              <a:t>状态缓存</a:t>
            </a:r>
            <a:br/>
            <a:r>
              <a:t>HTTP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5272" y="1572768"/>
            <a:ext cx="2011680" cy="3273552"/>
          </a:xfrm>
          <a:prstGeom prst="roundRect">
            <a:avLst/>
          </a:prstGeom>
          <a:solidFill>
            <a:srgbClr val="F5F6F3"/>
          </a:solidFill>
          <a:ln w="1905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18745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交互入口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25312" y="2304288"/>
            <a:ext cx="1371600" cy="0"/>
          </a:xfrm>
          <a:prstGeom prst="line">
            <a:avLst/>
          </a:prstGeom>
          <a:ln w="2794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33872" y="2633472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串口屏</a:t>
            </a:r>
            <a:br/>
            <a:r>
              <a:t>小程序</a:t>
            </a:r>
            <a:br/>
            <a:r>
              <a:t>AI/MCP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72768"/>
            <a:ext cx="2011680" cy="3273552"/>
          </a:xfrm>
          <a:prstGeom prst="roundRect">
            <a:avLst/>
          </a:prstGeom>
          <a:solidFill>
            <a:srgbClr val="F5F6F3"/>
          </a:solidFill>
          <a:ln w="1905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7451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执行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2304288"/>
            <a:ext cx="1371600" cy="0"/>
          </a:xfrm>
          <a:prstGeom prst="line">
            <a:avLst/>
          </a:prstGeom>
          <a:ln w="2794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2633472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74238"/>
                </a:solidFill>
                <a:latin typeface="Microsoft YaHei"/>
              </a:defRPr>
            </a:pPr>
            <a:r>
              <a:t>净化红灯</a:t>
            </a:r>
            <a:br/>
            <a:r>
              <a:t>新风舵机</a:t>
            </a:r>
            <a:br/>
            <a:r>
              <a:t>加湿蓝灯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97480" y="2880360"/>
            <a:ext cx="658368" cy="384048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276088" y="2880360"/>
            <a:ext cx="658368" cy="384048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882127" y="2880360"/>
            <a:ext cx="658368" cy="384048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这条主线保证：从屏幕点按钮、从手机点档位、从语音下指令，最后改的是同一组状态。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串口屏：现场能看，也能直接控制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屏幕不是摆设，现场不拿手机也能完成查看和操作。</a:t>
            </a:r>
          </a:p>
        </p:txBody>
      </p:sp>
      <p:pic>
        <p:nvPicPr>
          <p:cNvPr id="4" name="Picture 3" descr="crop_serial_page_home_350_2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3200400" cy="18745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17320"/>
            <a:ext cx="3200400" cy="1874519"/>
          </a:xfrm>
          <a:prstGeom prst="rect">
            <a:avLst/>
          </a:prstGeom>
          <a:noFill/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温度、湿度、空气评分</a:t>
            </a:r>
          </a:p>
        </p:txBody>
      </p:sp>
      <p:pic>
        <p:nvPicPr>
          <p:cNvPr id="8" name="Picture 7" descr="crop_serial_page_air_score_350_2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417320"/>
            <a:ext cx="3200400" cy="18745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80559" y="1417320"/>
            <a:ext cx="3200400" cy="1874519"/>
          </a:xfrm>
          <a:prstGeom prst="rect">
            <a:avLst/>
          </a:prstGeom>
          <a:noFill/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3566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空气详情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9776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MQ135 原始值和曲线</a:t>
            </a:r>
          </a:p>
        </p:txBody>
      </p:sp>
      <p:pic>
        <p:nvPicPr>
          <p:cNvPr id="12" name="Picture 11" descr="crop_serial_page_ai_settings_350_2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417320"/>
            <a:ext cx="3200400" cy="1874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02752" y="1417320"/>
            <a:ext cx="3200400" cy="1874519"/>
          </a:xfrm>
          <a:prstGeom prst="rect">
            <a:avLst/>
          </a:prstGeom>
          <a:noFill/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566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AI/设置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9776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手动环境场景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5029200"/>
            <a:ext cx="9966960" cy="658368"/>
          </a:xfrm>
          <a:prstGeom prst="roundRect">
            <a:avLst/>
          </a:prstGeom>
          <a:solidFill>
            <a:srgbClr val="F5F6F3"/>
          </a:solidFill>
          <a:ln w="1778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266944"/>
            <a:ext cx="9509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显示策略：数据保持在屏幕上，新数据来了再覆盖旧数据，避免“刷新一下就消失”。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小程序：手机端看状态、调档位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同一 WiFi 下，手机直接访问 ESP32S3 的 HTTP API。</a:t>
            </a:r>
          </a:p>
        </p:txBody>
      </p:sp>
      <p:pic>
        <p:nvPicPr>
          <p:cNvPr id="4" name="Picture 3" descr="crop_phone_crop_400_5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36576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143000"/>
            <a:ext cx="3657600" cy="4800600"/>
          </a:xfrm>
          <a:prstGeom prst="rect">
            <a:avLst/>
          </a:prstGeom>
          <a:noFill/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1417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GET /api/state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4238"/>
                </a:solidFill>
                <a:latin typeface="Microsoft YaHei"/>
              </a:defRPr>
            </a:pPr>
            <a:r>
              <a:t>读取当前温湿度、空气评分、设备档位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74920" y="1801368"/>
            <a:ext cx="6035040" cy="0"/>
          </a:xfrm>
          <a:prstGeom prst="line">
            <a:avLst/>
          </a:prstGeom>
          <a:ln w="10160">
            <a:solidFill>
              <a:srgbClr val="174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23774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POST /api/device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774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4238"/>
                </a:solidFill>
                <a:latin typeface="Microsoft YaHei"/>
              </a:defRPr>
            </a:pPr>
            <a:r>
              <a:t>净化、新风、加湿切换 0-3 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2761488"/>
            <a:ext cx="6035040" cy="0"/>
          </a:xfrm>
          <a:prstGeom prst="line">
            <a:avLst/>
          </a:prstGeom>
          <a:ln w="10160">
            <a:solidFill>
              <a:srgbClr val="174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74920" y="3337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POST /api/mode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3756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4238"/>
                </a:solidFill>
                <a:latin typeface="Microsoft YaHei"/>
              </a:defRPr>
            </a:pPr>
            <a:r>
              <a:t>自动模式、节能模式开关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3721608"/>
            <a:ext cx="6035040" cy="0"/>
          </a:xfrm>
          <a:prstGeom prst="line">
            <a:avLst/>
          </a:prstGeom>
          <a:ln w="10160">
            <a:solidFill>
              <a:srgbClr val="174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74920" y="429768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GET /api/history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2976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4238"/>
                </a:solidFill>
                <a:latin typeface="Microsoft YaHei"/>
              </a:defRPr>
            </a:pPr>
            <a:r>
              <a:t>查看最近 30 条空气评分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4920" y="4681728"/>
            <a:ext cx="6035040" cy="0"/>
          </a:xfrm>
          <a:prstGeom prst="line">
            <a:avLst/>
          </a:prstGeom>
          <a:ln w="10160">
            <a:solidFill>
              <a:srgbClr val="174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74920" y="562356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好处很直接：不用另搭服务器，答辩现场和实际同网段使用都能跑通。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AI 语音：把一句话变成一次工具调用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AI 负责理解口语，真正的设备状态仍由 ESP32S3 控制器统一维护。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212848" cy="14173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05740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4238"/>
                </a:solidFill>
                <a:latin typeface="Microsoft YaHei UI"/>
              </a:defRPr>
            </a:pPr>
            <a:r>
              <a:t>用户语音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420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打开净化器二档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34640" y="2331720"/>
            <a:ext cx="438912" cy="310896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212848" cy="14173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5740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4238"/>
                </a:solidFill>
                <a:latin typeface="Microsoft YaHei UI"/>
              </a:defRPr>
            </a:pPr>
            <a:r>
              <a:t>小智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5420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选择 home_set_purifier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69280" y="2331720"/>
            <a:ext cx="438912" cy="310896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212848" cy="14173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5740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4238"/>
                </a:solidFill>
                <a:latin typeface="Microsoft YaHei UI"/>
              </a:defRPr>
            </a:pPr>
            <a:r>
              <a:t>桥接脚本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420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转发到 /api/device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03920" y="2331720"/>
            <a:ext cx="438912" cy="310896"/>
          </a:xfrm>
          <a:prstGeom prst="rightArrow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828800"/>
            <a:ext cx="2212848" cy="1417320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205740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4238"/>
                </a:solidFill>
                <a:latin typeface="Microsoft YaHei UI"/>
              </a:defRPr>
            </a:pPr>
            <a:r>
              <a:t>ESP32S3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54203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GPIO13 PWM 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答辩时可以这样说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096512"/>
            <a:ext cx="1600200" cy="402336"/>
          </a:xfrm>
          <a:prstGeom prst="roundRect">
            <a:avLst/>
          </a:prstGeom>
          <a:solidFill>
            <a:srgbClr val="F5F6F3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417880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打开新风三档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096512"/>
            <a:ext cx="1600200" cy="402336"/>
          </a:xfrm>
          <a:prstGeom prst="roundRect">
            <a:avLst/>
          </a:prstGeom>
          <a:solidFill>
            <a:srgbClr val="F5F6F3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648" y="417880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进入节能模式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096512"/>
            <a:ext cx="1600200" cy="402336"/>
          </a:xfrm>
          <a:prstGeom prst="roundRect">
            <a:avLst/>
          </a:prstGeom>
          <a:solidFill>
            <a:srgbClr val="F5F6F3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4178808"/>
            <a:ext cx="1380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模拟干燥环境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重点不是“AI 直接接管硬件”，而是语音入口和手机、屏幕共用一套控制链路。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自动与节能：规则清楚，动作看得见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自动模式根据环境状态调整档位，节能模式负责快速关闭执行器。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环境状态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822B"/>
                </a:solidFill>
                <a:latin typeface="Microsoft YaHei UI"/>
              </a:defRPr>
            </a:pPr>
            <a:r>
              <a:t>系统动作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38328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365760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7510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空气评分低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75104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净化升档 + 新风摆动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084832"/>
            <a:ext cx="1901952" cy="0"/>
          </a:xfrm>
          <a:prstGeom prst="line">
            <a:avLst/>
          </a:prstGeom>
          <a:ln w="2540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651760"/>
            <a:ext cx="338328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365760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9806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湿度偏低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98064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加湿升档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2907791"/>
            <a:ext cx="1901952" cy="0"/>
          </a:xfrm>
          <a:prstGeom prst="line">
            <a:avLst/>
          </a:prstGeom>
          <a:ln w="2540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3474720"/>
            <a:ext cx="338328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365760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2102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高温场景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21024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提醒通风，配合新风动作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43400" y="3730752"/>
            <a:ext cx="1901952" cy="0"/>
          </a:xfrm>
          <a:prstGeom prst="line">
            <a:avLst/>
          </a:prstGeom>
          <a:ln w="2540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4297680"/>
            <a:ext cx="338328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297680"/>
            <a:ext cx="3657600" cy="512064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4398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节能开启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43984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4238"/>
                </a:solidFill>
                <a:latin typeface="Microsoft YaHei UI"/>
              </a:defRPr>
            </a:pPr>
            <a:r>
              <a:t>关闭自动 + 三个执行器归零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43400" y="4553712"/>
            <a:ext cx="1901952" cy="0"/>
          </a:xfrm>
          <a:prstGeom prst="line">
            <a:avLst/>
          </a:prstGeom>
          <a:ln w="25400">
            <a:solidFill>
              <a:srgbClr val="D98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74238"/>
                </a:solidFill>
                <a:latin typeface="Microsoft YaHei UI"/>
              </a:defRPr>
            </a:pPr>
            <a:r>
              <a:t>现场演示用“舒适 / 高温 / 干燥 / 污染”四个场景切换，不用真的等环境变差。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4238"/>
                </a:solidFill>
                <a:latin typeface="Microsoft YaHei UI"/>
              </a:defRPr>
            </a:pPr>
            <a:r>
              <a:t>完成情况：每条链路都有可观察结果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74238"/>
                </a:solidFill>
                <a:latin typeface="Microsoft YaHei"/>
              </a:defRPr>
            </a:pPr>
            <a:r>
              <a:t>每项功能都能通过屏幕、手机、语音入口、日志或外设动作确认。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916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传感器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91639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温湿度和空气评分进入状态缓存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6916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串口屏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39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首页、详情、AI 设置页持续显示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926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执行器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红灯、蓝灯、舵机按档位动作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43200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926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小程序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260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状态读取、历史读取、设备控制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160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AI/MCP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语音工具调用转发到 HTTP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77639"/>
            <a:ext cx="4800600" cy="804672"/>
          </a:xfrm>
          <a:prstGeom prst="roundRect">
            <a:avLst/>
          </a:prstGeom>
          <a:solidFill>
            <a:srgbClr val="F5F6F3"/>
          </a:solidFill>
          <a:ln w="15240">
            <a:solidFill>
              <a:srgbClr val="174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160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822B"/>
                </a:solidFill>
                <a:latin typeface="Microsoft YaHei UI"/>
              </a:defRPr>
            </a:pPr>
            <a:r>
              <a:t>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74238"/>
                </a:solidFill>
                <a:latin typeface="Microsoft YaHei"/>
              </a:defRPr>
            </a:pPr>
            <a:r>
              <a:t>自动联动、节能关闭执行器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875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74238"/>
                </a:solidFill>
                <a:latin typeface="Microsoft YaHei UI"/>
              </a:defRPr>
            </a:pPr>
            <a:r>
              <a:t>演示路径：屏幕查看状态 → 小程序切换档位 → 语音控制 → 自动模式联动。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6F3"/>
                </a:solidFill>
                <a:latin typeface="Microsoft YaHei UI"/>
              </a:defRPr>
            </a:pPr>
            <a:r>
              <a:t>应用价值：小空间也能做成可视化空气管理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2148840" cy="1005840"/>
          </a:xfrm>
          <a:prstGeom prst="roundRect">
            <a:avLst/>
          </a:prstGeom>
          <a:solidFill>
            <a:srgbClr val="174238"/>
          </a:solidFill>
          <a:ln w="17780">
            <a:solidFill>
              <a:srgbClr val="F5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10512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6F3"/>
                </a:solidFill>
                <a:latin typeface="Microsoft YaHei UI"/>
              </a:defRPr>
            </a:pPr>
            <a:r>
              <a:t>家庭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79" y="1508760"/>
            <a:ext cx="2148840" cy="1005840"/>
          </a:xfrm>
          <a:prstGeom prst="roundRect">
            <a:avLst/>
          </a:prstGeom>
          <a:solidFill>
            <a:srgbClr val="174238"/>
          </a:solidFill>
          <a:ln w="17780">
            <a:solidFill>
              <a:srgbClr val="F5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810512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6F3"/>
                </a:solidFill>
                <a:latin typeface="Microsoft YaHei UI"/>
              </a:defRPr>
            </a:pPr>
            <a:r>
              <a:t>宿舍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2148840" cy="1005840"/>
          </a:xfrm>
          <a:prstGeom prst="roundRect">
            <a:avLst/>
          </a:prstGeom>
          <a:solidFill>
            <a:srgbClr val="174238"/>
          </a:solidFill>
          <a:ln w="17780">
            <a:solidFill>
              <a:srgbClr val="F5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10512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6F3"/>
                </a:solidFill>
                <a:latin typeface="Microsoft YaHei UI"/>
              </a:defRPr>
            </a:pPr>
            <a:r>
              <a:t>教室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1508760"/>
            <a:ext cx="2148840" cy="1005840"/>
          </a:xfrm>
          <a:prstGeom prst="roundRect">
            <a:avLst/>
          </a:prstGeom>
          <a:solidFill>
            <a:srgbClr val="174238"/>
          </a:solidFill>
          <a:ln w="17780">
            <a:solidFill>
              <a:srgbClr val="F5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810512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6F3"/>
                </a:solidFill>
                <a:latin typeface="Microsoft YaHei UI"/>
              </a:defRPr>
            </a:pPr>
            <a:r>
              <a:t>小办公室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5F6F3"/>
                </a:solidFill>
                <a:latin typeface="Microsoft YaHei UI"/>
              </a:defRPr>
            </a:pPr>
            <a:r>
              <a:t>当前版本把“看见状态、手动控制、语音控制、自动联动”放在同一台 ESP32S3 上，适合低成本部署和后续扩展。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6F3"/>
                </a:solidFill>
                <a:latin typeface="Microsoft YaHei"/>
              </a:defRPr>
            </a:pPr>
            <a:r>
              <a:t>下一步可以接入云端记录、PM2.5/CO2/TVOC 传感器，以及真实净化器、风机和加湿器。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8" y="636422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822B"/>
                </a:solidFill>
                <a:latin typeface="Microsoft YaHei U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